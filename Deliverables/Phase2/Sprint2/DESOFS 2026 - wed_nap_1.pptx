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Open Sauce" charset="1" panose="00000500000000000000"/>
      <p:regular r:id="rId19"/>
    </p:embeddedFont>
    <p:embeddedFont>
      <p:font typeface="Open Sauce Bold" charset="1" panose="00000800000000000000"/>
      <p:regular r:id="rId20"/>
    </p:embeddedFont>
    <p:embeddedFont>
      <p:font typeface="Open Sauce Bold Italics" charset="1" panose="00000800000000000000"/>
      <p:regular r:id="rId21"/>
    </p:embeddedFont>
    <p:embeddedFont>
      <p:font typeface="Open Sauce Italics" charset="1" panose="000005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1618" y="309083"/>
            <a:ext cx="3983559" cy="1513752"/>
          </a:xfrm>
          <a:custGeom>
            <a:avLst/>
            <a:gdLst/>
            <a:ahLst/>
            <a:cxnLst/>
            <a:rect r="r" b="b" t="t" l="l"/>
            <a:pathLst>
              <a:path h="1513752" w="3983559">
                <a:moveTo>
                  <a:pt x="0" y="0"/>
                </a:moveTo>
                <a:lnTo>
                  <a:pt x="3983559" y="0"/>
                </a:lnTo>
                <a:lnTo>
                  <a:pt x="3983559" y="1513752"/>
                </a:lnTo>
                <a:lnTo>
                  <a:pt x="0" y="1513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836287" y="519277"/>
            <a:ext cx="3741480" cy="1018847"/>
          </a:xfrm>
          <a:custGeom>
            <a:avLst/>
            <a:gdLst/>
            <a:ahLst/>
            <a:cxnLst/>
            <a:rect r="r" b="b" t="t" l="l"/>
            <a:pathLst>
              <a:path h="1018847" w="3741480">
                <a:moveTo>
                  <a:pt x="0" y="0"/>
                </a:moveTo>
                <a:lnTo>
                  <a:pt x="3741480" y="0"/>
                </a:lnTo>
                <a:lnTo>
                  <a:pt x="3741480" y="1018846"/>
                </a:lnTo>
                <a:lnTo>
                  <a:pt x="0" y="10188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72463" y="4104305"/>
            <a:ext cx="3527649" cy="4254840"/>
            <a:chOff x="0" y="0"/>
            <a:chExt cx="4703532" cy="56731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254984" y="2408086"/>
              <a:ext cx="2193565" cy="2786283"/>
            </a:xfrm>
            <a:custGeom>
              <a:avLst/>
              <a:gdLst/>
              <a:ahLst/>
              <a:cxnLst/>
              <a:rect r="r" b="b" t="t" l="l"/>
              <a:pathLst>
                <a:path h="2786283" w="2193565">
                  <a:moveTo>
                    <a:pt x="0" y="0"/>
                  </a:moveTo>
                  <a:lnTo>
                    <a:pt x="2193565" y="0"/>
                  </a:lnTo>
                  <a:lnTo>
                    <a:pt x="2193565" y="2786283"/>
                  </a:lnTo>
                  <a:lnTo>
                    <a:pt x="0" y="2786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703532" cy="5673120"/>
            </a:xfrm>
            <a:custGeom>
              <a:avLst/>
              <a:gdLst/>
              <a:ahLst/>
              <a:cxnLst/>
              <a:rect r="r" b="b" t="t" l="l"/>
              <a:pathLst>
                <a:path h="5673120" w="4703532">
                  <a:moveTo>
                    <a:pt x="0" y="0"/>
                  </a:moveTo>
                  <a:lnTo>
                    <a:pt x="4703532" y="0"/>
                  </a:lnTo>
                  <a:lnTo>
                    <a:pt x="4703532" y="5673120"/>
                  </a:lnTo>
                  <a:lnTo>
                    <a:pt x="0" y="56731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933450" y="2715658"/>
            <a:ext cx="11308540" cy="191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40"/>
              </a:lnSpc>
            </a:pPr>
            <a:r>
              <a:rPr lang="en-US" sz="14340" spc="-86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e-Movie Shop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170303"/>
            <a:ext cx="8115300" cy="46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b="true" sz="3499" spc="34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063729"/>
            <a:ext cx="5706600" cy="2295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78"/>
              </a:lnSpc>
            </a:pPr>
            <a:r>
              <a:rPr lang="en-US" sz="2627" spc="-105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Pedro Soares - 1200909 (M1D)</a:t>
            </a:r>
          </a:p>
          <a:p>
            <a:pPr algn="just">
              <a:lnSpc>
                <a:spcPts val="3678"/>
              </a:lnSpc>
            </a:pPr>
            <a:r>
              <a:rPr lang="en-US" sz="2627" spc="-105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Pedro Costa - 1201576 (M1D)</a:t>
            </a:r>
          </a:p>
          <a:p>
            <a:pPr algn="just">
              <a:lnSpc>
                <a:spcPts val="3678"/>
              </a:lnSpc>
            </a:pPr>
            <a:r>
              <a:rPr lang="en-US" sz="2627" spc="-105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Miguel Cardoso - 1220772 (M1B)</a:t>
            </a:r>
          </a:p>
          <a:p>
            <a:pPr algn="just">
              <a:lnSpc>
                <a:spcPts val="3678"/>
              </a:lnSpc>
            </a:pPr>
            <a:r>
              <a:rPr lang="en-US" sz="2627" spc="-105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Diogo Ribeiro - 1220812 (M1D)</a:t>
            </a:r>
          </a:p>
          <a:p>
            <a:pPr algn="just">
              <a:lnSpc>
                <a:spcPts val="3678"/>
              </a:lnSpc>
            </a:pPr>
            <a:r>
              <a:rPr lang="en-US" sz="2627" spc="-105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Pedro Silva - 1221033 (M1C)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043509"/>
            <a:ext cx="8115300" cy="7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5999" spc="-35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Índice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17575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951681" y="917575"/>
            <a:ext cx="4307619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50375" y="3910408"/>
            <a:ext cx="3274029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Projeto e Objetivos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0375" y="4552463"/>
            <a:ext cx="2950179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pai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 objet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iv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fun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cionais e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seguran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defin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idos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pa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 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p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je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</a:p>
        </p:txBody>
      </p:sp>
      <p:sp>
        <p:nvSpPr>
          <p:cNvPr name="AutoShape 7" id="7"/>
          <p:cNvSpPr/>
          <p:nvPr/>
        </p:nvSpPr>
        <p:spPr>
          <a:xfrm>
            <a:off x="1028700" y="5898698"/>
            <a:ext cx="16230600" cy="0"/>
          </a:xfrm>
          <a:prstGeom prst="line">
            <a:avLst/>
          </a:prstGeom>
          <a:ln cap="flat" w="76200">
            <a:solidFill>
              <a:srgbClr val="8C775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8" id="8"/>
          <p:cNvSpPr/>
          <p:nvPr/>
        </p:nvSpPr>
        <p:spPr>
          <a:xfrm>
            <a:off x="1331126" y="3958033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744891" y="6097452"/>
            <a:ext cx="3613275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Arquitetura e Requisitos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44891" y="6570457"/>
            <a:ext cx="3130923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ã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ral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da arqu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etura da aplicação, pri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nc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 agregados e requisitos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524570" y="5879437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2" id="12"/>
          <p:cNvSpPr/>
          <p:nvPr/>
        </p:nvSpPr>
        <p:spPr>
          <a:xfrm>
            <a:off x="4933928" y="3982374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5219678" y="5898734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4" id="14"/>
          <p:cNvSpPr/>
          <p:nvPr/>
        </p:nvSpPr>
        <p:spPr>
          <a:xfrm>
            <a:off x="9284206" y="3982374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265980" y="3910408"/>
            <a:ext cx="4177772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SSDLC e </a:t>
            </a:r>
            <a:r>
              <a:rPr lang="en-US" b="true" sz="21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Security by Design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265980" y="4409570"/>
            <a:ext cx="3665801" cy="156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Modelação de ameaças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casos de abuso,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req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isitos de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gu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ança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de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finição 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co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nt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olos 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mitiga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ção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5442606" y="6112552"/>
            <a:ext cx="3763021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Controlos de Segurança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485017" y="6570457"/>
            <a:ext cx="3319084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Mecanismos de segurança -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aut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enticação, controlo 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ace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ssos,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çã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 dad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s,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logg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ng, etc.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8056" y="3910408"/>
            <a:ext cx="1678642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Pipelines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608056" y="4409570"/>
            <a:ext cx="2915700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CI/CD,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inte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ção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de test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ná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se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gu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ança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va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ação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co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ntínua da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aplica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ção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</p:txBody>
      </p:sp>
      <p:sp>
        <p:nvSpPr>
          <p:cNvPr name="AutoShape 21" id="21"/>
          <p:cNvSpPr/>
          <p:nvPr/>
        </p:nvSpPr>
        <p:spPr>
          <a:xfrm>
            <a:off x="9569956" y="5902508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9789031" y="6116362"/>
            <a:ext cx="221689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ASVS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789031" y="6570457"/>
            <a:ext cx="2895950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ast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abi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tre r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equis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seg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u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ranç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mp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emen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ação e testes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</p:txBody>
      </p:sp>
      <p:sp>
        <p:nvSpPr>
          <p:cNvPr name="AutoShape 24" id="24"/>
          <p:cNvSpPr/>
          <p:nvPr/>
        </p:nvSpPr>
        <p:spPr>
          <a:xfrm>
            <a:off x="12951681" y="5923075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13170756" y="6136929"/>
            <a:ext cx="3763021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Conclusão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170756" y="6570457"/>
            <a:ext cx="2600016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Resumo dos principais resultados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alcan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ça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os.</a:t>
            </a:r>
          </a:p>
        </p:txBody>
      </p:sp>
      <p:sp>
        <p:nvSpPr>
          <p:cNvPr name="AutoShape 27" id="27"/>
          <p:cNvSpPr/>
          <p:nvPr/>
        </p:nvSpPr>
        <p:spPr>
          <a:xfrm>
            <a:off x="12408756" y="3938736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12732606" y="3899648"/>
            <a:ext cx="374089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Deployment e Configuração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732606" y="4524594"/>
            <a:ext cx="4029937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Apl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icação 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am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bient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de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18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execução.</a:t>
            </a:r>
          </a:p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758036" y="3908703"/>
            <a:ext cx="1050505" cy="1263766"/>
          </a:xfrm>
          <a:custGeom>
            <a:avLst/>
            <a:gdLst/>
            <a:ahLst/>
            <a:cxnLst/>
            <a:rect r="r" b="b" t="t" l="l"/>
            <a:pathLst>
              <a:path h="1263766" w="1050505">
                <a:moveTo>
                  <a:pt x="0" y="0"/>
                </a:moveTo>
                <a:lnTo>
                  <a:pt x="1050506" y="0"/>
                </a:lnTo>
                <a:lnTo>
                  <a:pt x="1050506" y="1263766"/>
                </a:lnTo>
                <a:lnTo>
                  <a:pt x="0" y="12637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698529" y="3301051"/>
            <a:ext cx="811369" cy="1759066"/>
          </a:xfrm>
          <a:custGeom>
            <a:avLst/>
            <a:gdLst/>
            <a:ahLst/>
            <a:cxnLst/>
            <a:rect r="r" b="b" t="t" l="l"/>
            <a:pathLst>
              <a:path h="1759066" w="811369">
                <a:moveTo>
                  <a:pt x="0" y="0"/>
                </a:moveTo>
                <a:lnTo>
                  <a:pt x="811370" y="0"/>
                </a:lnTo>
                <a:lnTo>
                  <a:pt x="811370" y="1759066"/>
                </a:lnTo>
                <a:lnTo>
                  <a:pt x="0" y="17590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585324" y="3908703"/>
            <a:ext cx="1117351" cy="1151414"/>
          </a:xfrm>
          <a:custGeom>
            <a:avLst/>
            <a:gdLst/>
            <a:ahLst/>
            <a:cxnLst/>
            <a:rect r="r" b="b" t="t" l="l"/>
            <a:pathLst>
              <a:path h="1151414" w="1117351">
                <a:moveTo>
                  <a:pt x="0" y="0"/>
                </a:moveTo>
                <a:lnTo>
                  <a:pt x="1117352" y="0"/>
                </a:lnTo>
                <a:lnTo>
                  <a:pt x="1117352" y="1151414"/>
                </a:lnTo>
                <a:lnTo>
                  <a:pt x="0" y="1151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999302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Projeto e Objetivos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09854" y="5772544"/>
            <a:ext cx="2746871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Propósito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6596616"/>
            <a:ext cx="4509178" cy="222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Plataforma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backend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para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comercialização de filmes digitais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permite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 gestão de catálogo, realização de encomendas e processamento pedidos de reembolso.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02672" y="5772544"/>
            <a:ext cx="3282657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Perfis de Utilização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88914" y="6589876"/>
            <a:ext cx="4310172" cy="1480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Controlo de acessos baseado em papéis (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RBAC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), com suporte a três perfis distintos -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Customer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Support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 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Admin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730779" y="5772544"/>
            <a:ext cx="2746871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Abordagem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49128" y="6596616"/>
            <a:ext cx="4310172" cy="1851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Desenv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olvimento orientado por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SSDLC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Security by Design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e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A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SVS 5.0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com foco na segurança, rastreabilidade e automatização.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698616" y="9220200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949128" y="1066800"/>
            <a:ext cx="431017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434048" y="3230057"/>
            <a:ext cx="7825252" cy="5834573"/>
          </a:xfrm>
          <a:custGeom>
            <a:avLst/>
            <a:gdLst/>
            <a:ahLst/>
            <a:cxnLst/>
            <a:rect r="r" b="b" t="t" l="l"/>
            <a:pathLst>
              <a:path h="5834573" w="7825252">
                <a:moveTo>
                  <a:pt x="0" y="0"/>
                </a:moveTo>
                <a:lnTo>
                  <a:pt x="7825252" y="0"/>
                </a:lnTo>
                <a:lnTo>
                  <a:pt x="7825252" y="5834574"/>
                </a:lnTo>
                <a:lnTo>
                  <a:pt x="0" y="5834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999302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Arquitetura e Requisitos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293110"/>
            <a:ext cx="7342398" cy="596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Cliente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Consome a API através de pedidos HTTPS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Auth0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Autenticação e emissão de JWT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Gestão centralizada de identidades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 i="true" b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Backend </a:t>
            </a: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(Java)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REST API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Regras de negócio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RBAC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Gestão de catálogo, encomendas e reembolsos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MySQL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Persistência de dados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2698616" y="9220200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49128" y="1066800"/>
            <a:ext cx="431017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465163" y="9229725"/>
            <a:ext cx="3763021" cy="647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Figura 1 - Vista Lógica da solução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232815" y="2680335"/>
            <a:ext cx="9026485" cy="6453937"/>
          </a:xfrm>
          <a:custGeom>
            <a:avLst/>
            <a:gdLst/>
            <a:ahLst/>
            <a:cxnLst/>
            <a:rect r="r" b="b" t="t" l="l"/>
            <a:pathLst>
              <a:path h="6453937" w="9026485">
                <a:moveTo>
                  <a:pt x="0" y="0"/>
                </a:moveTo>
                <a:lnTo>
                  <a:pt x="9026485" y="0"/>
                </a:lnTo>
                <a:lnTo>
                  <a:pt x="9026485" y="6453937"/>
                </a:lnTo>
                <a:lnTo>
                  <a:pt x="0" y="645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691005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Arquitetura e Requisitos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632710"/>
            <a:ext cx="7342398" cy="692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i="true" b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Domain-Driven Design</a:t>
            </a: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(DDD)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Agregado</a:t>
            </a:r>
            <a:r>
              <a:rPr lang="en-US" b="true" sz="20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User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Agregado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Movie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Agregado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Order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Requisitos Funcionais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</a:t>
            </a: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estão de catálogo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Compra de filmes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Pedido de reembolso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Gestão de pedidos de reembolso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Gestão de utilizadores e papéis</a:t>
            </a:r>
          </a:p>
          <a:p>
            <a:pPr algn="l">
              <a:lnSpc>
                <a:spcPts val="3219"/>
              </a:lnSpc>
            </a:pPr>
          </a:p>
          <a:p>
            <a:pPr algn="l">
              <a:lnSpc>
                <a:spcPts val="3219"/>
              </a:lnSpc>
            </a:pPr>
            <a:r>
              <a:rPr lang="en-US" sz="229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Requesitos de Segurança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Autenticação OAuth2/OpenID Connect (Auth0)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RBAC (Customer, Support, Admin)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Validação de JWT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Rate Limiting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Input Validation</a:t>
            </a:r>
          </a:p>
          <a:p>
            <a:pPr algn="l" marL="431801" indent="-215900" lvl="1">
              <a:lnSpc>
                <a:spcPts val="2800"/>
              </a:lnSpc>
              <a:spcBef>
                <a:spcPct val="0"/>
              </a:spcBef>
              <a:buFont typeface="Arial"/>
              <a:buChar char="•"/>
            </a:pP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Logging </a:t>
            </a: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Audit Trail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698616" y="9220200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49128" y="1066800"/>
            <a:ext cx="431017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64547" y="9388793"/>
            <a:ext cx="3763021" cy="313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Figura 2 - Modelo Domínio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84632" y="3702372"/>
            <a:ext cx="1706721" cy="1733445"/>
          </a:xfrm>
          <a:custGeom>
            <a:avLst/>
            <a:gdLst/>
            <a:ahLst/>
            <a:cxnLst/>
            <a:rect r="r" b="b" t="t" l="l"/>
            <a:pathLst>
              <a:path h="1733445" w="1706721">
                <a:moveTo>
                  <a:pt x="0" y="0"/>
                </a:moveTo>
                <a:lnTo>
                  <a:pt x="1706721" y="0"/>
                </a:lnTo>
                <a:lnTo>
                  <a:pt x="1706721" y="1733445"/>
                </a:lnTo>
                <a:lnTo>
                  <a:pt x="0" y="17334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7799064"/>
            <a:ext cx="18288000" cy="2487936"/>
          </a:xfrm>
          <a:custGeom>
            <a:avLst/>
            <a:gdLst/>
            <a:ahLst/>
            <a:cxnLst/>
            <a:rect r="r" b="b" t="t" l="l"/>
            <a:pathLst>
              <a:path h="2487936" w="18288000">
                <a:moveTo>
                  <a:pt x="0" y="0"/>
                </a:moveTo>
                <a:lnTo>
                  <a:pt x="18288000" y="0"/>
                </a:lnTo>
                <a:lnTo>
                  <a:pt x="18288000" y="2487936"/>
                </a:lnTo>
                <a:lnTo>
                  <a:pt x="0" y="2487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57466" r="0" b="-15600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999302"/>
            <a:ext cx="8669098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SSDLC e Security by Design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698616" y="8918575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181818"/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49424" y="3549972"/>
            <a:ext cx="205937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SSDLC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149424" y="4089219"/>
            <a:ext cx="5360303" cy="3709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Análise de requisitos funcionais e de segurança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Modelação de ameaças com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STRIDE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Definição de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abuse cases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Definição e i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mplementação de controlos de segurança desde as fas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es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iciais do desenvolvimento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Validação contínua através de testes e análises automáticas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1425565" y="3549972"/>
            <a:ext cx="2947199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Security by Design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25565" y="4308162"/>
            <a:ext cx="5152170" cy="222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Aut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enticação gerida pelo Auth0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Role-Based Access Control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(RBAC)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Princípio do Menor Privilégio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Validação e sanitização de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inputs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Defesa em profundidade (JWT, RBAC, validações e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logging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49128" y="1066800"/>
            <a:ext cx="431017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9285669" y="3710097"/>
            <a:ext cx="1706721" cy="1733445"/>
          </a:xfrm>
          <a:custGeom>
            <a:avLst/>
            <a:gdLst/>
            <a:ahLst/>
            <a:cxnLst/>
            <a:rect r="r" b="b" t="t" l="l"/>
            <a:pathLst>
              <a:path h="1733445" w="1706721">
                <a:moveTo>
                  <a:pt x="0" y="0"/>
                </a:moveTo>
                <a:lnTo>
                  <a:pt x="1706721" y="0"/>
                </a:lnTo>
                <a:lnTo>
                  <a:pt x="1706721" y="1733445"/>
                </a:lnTo>
                <a:lnTo>
                  <a:pt x="0" y="17334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999302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Controlos de Segurança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698616" y="8918575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5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3600450"/>
            <a:ext cx="6817607" cy="1543050"/>
            <a:chOff x="0" y="0"/>
            <a:chExt cx="1795584" cy="406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5584" cy="406400"/>
            </a:xfrm>
            <a:custGeom>
              <a:avLst/>
              <a:gdLst/>
              <a:ahLst/>
              <a:cxnLst/>
              <a:rect r="r" b="b" t="t" l="l"/>
              <a:pathLst>
                <a:path h="406400" w="1795584">
                  <a:moveTo>
                    <a:pt x="1592384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1592384" y="406400"/>
                  </a:lnTo>
                  <a:lnTo>
                    <a:pt x="1795584" y="203200"/>
                  </a:lnTo>
                  <a:lnTo>
                    <a:pt x="1592384" y="0"/>
                  </a:lnTo>
                  <a:close/>
                </a:path>
              </a:pathLst>
            </a:custGeom>
            <a:solidFill>
              <a:srgbClr val="8C775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681284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074871" y="3600450"/>
            <a:ext cx="3811973" cy="1543050"/>
            <a:chOff x="0" y="0"/>
            <a:chExt cx="1003976" cy="4064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3976" cy="406400"/>
            </a:xfrm>
            <a:custGeom>
              <a:avLst/>
              <a:gdLst/>
              <a:ahLst/>
              <a:cxnLst/>
              <a:rect r="r" b="b" t="t" l="l"/>
              <a:pathLst>
                <a:path h="406400" w="1003976">
                  <a:moveTo>
                    <a:pt x="0" y="0"/>
                  </a:moveTo>
                  <a:lnTo>
                    <a:pt x="800776" y="0"/>
                  </a:lnTo>
                  <a:lnTo>
                    <a:pt x="1003976" y="203200"/>
                  </a:lnTo>
                  <a:lnTo>
                    <a:pt x="800776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C7753">
                <a:alpha val="80000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77800" y="-47625"/>
              <a:ext cx="749976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107" y="3600450"/>
            <a:ext cx="3811973" cy="1543050"/>
            <a:chOff x="0" y="0"/>
            <a:chExt cx="1003976" cy="406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3976" cy="406400"/>
            </a:xfrm>
            <a:custGeom>
              <a:avLst/>
              <a:gdLst/>
              <a:ahLst/>
              <a:cxnLst/>
              <a:rect r="r" b="b" t="t" l="l"/>
              <a:pathLst>
                <a:path h="406400" w="1003976">
                  <a:moveTo>
                    <a:pt x="0" y="0"/>
                  </a:moveTo>
                  <a:lnTo>
                    <a:pt x="800776" y="0"/>
                  </a:lnTo>
                  <a:lnTo>
                    <a:pt x="1003976" y="203200"/>
                  </a:lnTo>
                  <a:lnTo>
                    <a:pt x="800776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C7753">
                <a:alpha val="60000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77800" y="-47625"/>
              <a:ext cx="749976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213343" y="3600450"/>
            <a:ext cx="7311622" cy="1543050"/>
            <a:chOff x="0" y="0"/>
            <a:chExt cx="1925695" cy="406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25695" cy="406400"/>
            </a:xfrm>
            <a:custGeom>
              <a:avLst/>
              <a:gdLst/>
              <a:ahLst/>
              <a:cxnLst/>
              <a:rect r="r" b="b" t="t" l="l"/>
              <a:pathLst>
                <a:path h="406400" w="1925695">
                  <a:moveTo>
                    <a:pt x="0" y="0"/>
                  </a:moveTo>
                  <a:lnTo>
                    <a:pt x="1722495" y="0"/>
                  </a:lnTo>
                  <a:lnTo>
                    <a:pt x="1925695" y="203200"/>
                  </a:lnTo>
                  <a:lnTo>
                    <a:pt x="1722495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C7753">
                <a:alpha val="40000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77800" y="-47625"/>
              <a:ext cx="1671695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742237" y="3895170"/>
            <a:ext cx="2810148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Autenticação &amp; Autorização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66656" y="3777619"/>
            <a:ext cx="1828401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Validação e Proteção de Dados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135892" y="3961845"/>
            <a:ext cx="182840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Prevenção de Abusos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492174" y="3963357"/>
            <a:ext cx="182840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Monitorização e Auditoria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69441" y="6261188"/>
            <a:ext cx="4355740" cy="352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Auth0 (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Identity Provider)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OAuth2 / OpenID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Connect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JWT assinado com RS256 + validação de issuer, audience e expiração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Refresh Token Rotation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RBAC (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Customer</a:t>
            </a: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Support</a:t>
            </a: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Admin</a:t>
            </a: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)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Role Guards</a:t>
            </a:r>
          </a:p>
          <a:p>
            <a:pPr algn="l" marL="431801" indent="-215900" lvl="1">
              <a:lnSpc>
                <a:spcPts val="2800"/>
              </a:lnSpc>
              <a:spcBef>
                <a:spcPct val="0"/>
              </a:spcBef>
              <a:buFont typeface="Arial"/>
              <a:buChar char="•"/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Princípio do menor privilégio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77909" y="6261188"/>
            <a:ext cx="3544362" cy="3337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DTOs (controlo de exposição da API)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Validação de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 inputs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Sani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tização de dados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Proteção contra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Path Traversal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ratamento seguro de erros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3711199" y="6198507"/>
            <a:ext cx="3428451" cy="222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Security Logging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Audit Trails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Registo de alterações de permissões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Logging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de eventos críticos</a:t>
            </a:r>
          </a:p>
        </p:txBody>
      </p:sp>
      <p:sp>
        <p:nvSpPr>
          <p:cNvPr name="AutoShape 23" id="23"/>
          <p:cNvSpPr/>
          <p:nvPr/>
        </p:nvSpPr>
        <p:spPr>
          <a:xfrm>
            <a:off x="3128261" y="5041980"/>
            <a:ext cx="0" cy="861252"/>
          </a:xfrm>
          <a:prstGeom prst="line">
            <a:avLst/>
          </a:prstGeom>
          <a:ln cap="flat" w="38100">
            <a:solidFill>
              <a:srgbClr val="8C775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4" id="24"/>
          <p:cNvSpPr/>
          <p:nvPr/>
        </p:nvSpPr>
        <p:spPr>
          <a:xfrm>
            <a:off x="7650090" y="5041980"/>
            <a:ext cx="0" cy="861252"/>
          </a:xfrm>
          <a:prstGeom prst="line">
            <a:avLst/>
          </a:prstGeom>
          <a:ln cap="flat" w="38100">
            <a:solidFill>
              <a:srgbClr val="8C7753">
                <a:alpha val="69804"/>
              </a:srgbClr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5" id="25"/>
          <p:cNvSpPr/>
          <p:nvPr/>
        </p:nvSpPr>
        <p:spPr>
          <a:xfrm>
            <a:off x="15406375" y="5143500"/>
            <a:ext cx="0" cy="861252"/>
          </a:xfrm>
          <a:prstGeom prst="line">
            <a:avLst/>
          </a:prstGeom>
          <a:ln cap="flat" w="38100">
            <a:solidFill>
              <a:srgbClr val="8C7753">
                <a:alpha val="40000"/>
              </a:srgbClr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6" id="26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49128" y="1066800"/>
            <a:ext cx="431017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AutoShape 28" id="28"/>
          <p:cNvSpPr/>
          <p:nvPr/>
        </p:nvSpPr>
        <p:spPr>
          <a:xfrm>
            <a:off x="11566874" y="5041980"/>
            <a:ext cx="0" cy="861252"/>
          </a:xfrm>
          <a:prstGeom prst="line">
            <a:avLst/>
          </a:prstGeom>
          <a:ln cap="flat" w="38100">
            <a:solidFill>
              <a:srgbClr val="8C7753">
                <a:alpha val="69804"/>
              </a:srgbClr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9" id="29"/>
          <p:cNvSpPr txBox="true"/>
          <p:nvPr/>
        </p:nvSpPr>
        <p:spPr>
          <a:xfrm rot="0">
            <a:off x="9974999" y="6198507"/>
            <a:ext cx="3183750" cy="259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Rate Limiting 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(IP + User)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CORS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 Allowlist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ecurity 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HTTP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 Headers</a:t>
            </a:r>
          </a:p>
          <a:p>
            <a:pPr algn="l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HTTPS/TLS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192487"/>
            <a:ext cx="13534853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Pipeline de Desenvolvimento &amp; </a:t>
            </a:r>
            <a:r>
              <a:rPr lang="en-US" b="true" sz="5499" i="true" spc="-329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Release</a:t>
            </a: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698616" y="8918575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66800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968007" y="1066800"/>
            <a:ext cx="4291293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51528" y="4129815"/>
            <a:ext cx="296786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Feature Branch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51528" y="4653690"/>
            <a:ext cx="3201579" cy="1054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Desenvolvimento isolado de novas funcionalidades e correções.</a:t>
            </a:r>
          </a:p>
        </p:txBody>
      </p:sp>
      <p:sp>
        <p:nvSpPr>
          <p:cNvPr name="AutoShape 8" id="8"/>
          <p:cNvSpPr/>
          <p:nvPr/>
        </p:nvSpPr>
        <p:spPr>
          <a:xfrm>
            <a:off x="1028700" y="6165766"/>
            <a:ext cx="16230600" cy="0"/>
          </a:xfrm>
          <a:prstGeom prst="line">
            <a:avLst/>
          </a:prstGeom>
          <a:ln cap="flat" w="76200">
            <a:solidFill>
              <a:srgbClr val="8C775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9" id="9"/>
          <p:cNvSpPr/>
          <p:nvPr/>
        </p:nvSpPr>
        <p:spPr>
          <a:xfrm>
            <a:off x="1331126" y="4225101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2197877" y="6422941"/>
            <a:ext cx="3922372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Criação de </a:t>
            </a:r>
            <a:r>
              <a:rPr lang="en-US" b="true" sz="24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Pull Request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97877" y="7049686"/>
            <a:ext cx="376302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Integr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ação 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ont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ada e 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stre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áv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el.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816336" y="6165801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3" id="13"/>
          <p:cNvSpPr/>
          <p:nvPr/>
        </p:nvSpPr>
        <p:spPr>
          <a:xfrm>
            <a:off x="6784194" y="4177440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7295924" y="6199357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5" id="15"/>
          <p:cNvSpPr/>
          <p:nvPr/>
        </p:nvSpPr>
        <p:spPr>
          <a:xfrm>
            <a:off x="12050913" y="4225065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TextBox 16" id="16"/>
          <p:cNvSpPr txBox="true"/>
          <p:nvPr/>
        </p:nvSpPr>
        <p:spPr>
          <a:xfrm rot="0">
            <a:off x="7108044" y="4129815"/>
            <a:ext cx="3676211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Validação Automática*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08044" y="4653690"/>
            <a:ext cx="3433475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Build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+ Testes SAST + SCA + DAST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48311" y="6456532"/>
            <a:ext cx="3763021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Revisão por pares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648311" y="7083277"/>
            <a:ext cx="3763021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Validação té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cnica</a:t>
            </a:r>
          </a:p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de segurança por outro(s) elemento(s) da equipa.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374763" y="4177476"/>
            <a:ext cx="3996864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Aprovação &amp;</a:t>
            </a:r>
            <a:r>
              <a:rPr lang="en-US" b="true" sz="24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 Merge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374763" y="4653690"/>
            <a:ext cx="3210033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Integ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ração na main.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12587007" y="6199357"/>
            <a:ext cx="0" cy="1940701"/>
          </a:xfrm>
          <a:prstGeom prst="line">
            <a:avLst/>
          </a:prstGeom>
          <a:ln cap="rnd" w="19050">
            <a:solidFill>
              <a:srgbClr val="8C7753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TextBox 23" id="23"/>
          <p:cNvSpPr txBox="true"/>
          <p:nvPr/>
        </p:nvSpPr>
        <p:spPr>
          <a:xfrm rot="0">
            <a:off x="12968007" y="6412788"/>
            <a:ext cx="3763021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Release Please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68007" y="7039533"/>
            <a:ext cx="3556957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Versionamento automáti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</a:t>
            </a:r>
          </a:p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 geração de relea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100" strike="noStrike" u="none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650404" y="4458225"/>
            <a:ext cx="5807323" cy="1543050"/>
            <a:chOff x="0" y="0"/>
            <a:chExt cx="1529501" cy="4064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9501" cy="406400"/>
            </a:xfrm>
            <a:custGeom>
              <a:avLst/>
              <a:gdLst/>
              <a:ahLst/>
              <a:cxnLst/>
              <a:rect r="r" b="b" t="t" l="l"/>
              <a:pathLst>
                <a:path h="406400" w="1529501">
                  <a:moveTo>
                    <a:pt x="0" y="0"/>
                  </a:moveTo>
                  <a:lnTo>
                    <a:pt x="1326301" y="0"/>
                  </a:lnTo>
                  <a:lnTo>
                    <a:pt x="1529501" y="203200"/>
                  </a:lnTo>
                  <a:lnTo>
                    <a:pt x="1326301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>
                <a:alpha val="6000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77800" y="-47625"/>
              <a:ext cx="1275501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690835" y="4453801"/>
            <a:ext cx="4288123" cy="1543050"/>
            <a:chOff x="0" y="0"/>
            <a:chExt cx="1129382" cy="406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29382" cy="406400"/>
            </a:xfrm>
            <a:custGeom>
              <a:avLst/>
              <a:gdLst/>
              <a:ahLst/>
              <a:cxnLst/>
              <a:rect r="r" b="b" t="t" l="l"/>
              <a:pathLst>
                <a:path h="406400" w="1129382">
                  <a:moveTo>
                    <a:pt x="0" y="0"/>
                  </a:moveTo>
                  <a:lnTo>
                    <a:pt x="926182" y="0"/>
                  </a:lnTo>
                  <a:lnTo>
                    <a:pt x="1129382" y="203200"/>
                  </a:lnTo>
                  <a:lnTo>
                    <a:pt x="926182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>
                <a:alpha val="4000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77800" y="-47625"/>
              <a:ext cx="875382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1914649" y="4811946"/>
            <a:ext cx="182840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ZAP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(DAST)</a:t>
            </a:r>
          </a:p>
        </p:txBody>
      </p:sp>
      <p:sp>
        <p:nvSpPr>
          <p:cNvPr name="AutoShape 9" id="9"/>
          <p:cNvSpPr/>
          <p:nvPr/>
        </p:nvSpPr>
        <p:spPr>
          <a:xfrm>
            <a:off x="1449746" y="5930759"/>
            <a:ext cx="0" cy="86125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0" id="10"/>
          <p:cNvSpPr/>
          <p:nvPr/>
        </p:nvSpPr>
        <p:spPr>
          <a:xfrm>
            <a:off x="8672297" y="6001275"/>
            <a:ext cx="0" cy="1023071"/>
          </a:xfrm>
          <a:prstGeom prst="line">
            <a:avLst/>
          </a:prstGeom>
          <a:ln cap="flat" w="38100">
            <a:solidFill>
              <a:srgbClr val="FF914D">
                <a:alpha val="69804"/>
              </a:srgbClr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1" id="11"/>
          <p:cNvSpPr/>
          <p:nvPr/>
        </p:nvSpPr>
        <p:spPr>
          <a:xfrm flipH="true">
            <a:off x="12834897" y="5992089"/>
            <a:ext cx="19224" cy="866015"/>
          </a:xfrm>
          <a:prstGeom prst="line">
            <a:avLst/>
          </a:prstGeom>
          <a:ln cap="flat" w="38100">
            <a:solidFill>
              <a:srgbClr val="FFDE59">
                <a:alpha val="40000"/>
              </a:srgbClr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2" id="12"/>
          <p:cNvGrpSpPr/>
          <p:nvPr/>
        </p:nvGrpSpPr>
        <p:grpSpPr>
          <a:xfrm rot="0">
            <a:off x="0" y="4449039"/>
            <a:ext cx="3378910" cy="1543050"/>
            <a:chOff x="0" y="0"/>
            <a:chExt cx="889919" cy="406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89919" cy="406400"/>
            </a:xfrm>
            <a:custGeom>
              <a:avLst/>
              <a:gdLst/>
              <a:ahLst/>
              <a:cxnLst/>
              <a:rect r="r" b="b" t="t" l="l"/>
              <a:pathLst>
                <a:path h="406400" w="889919">
                  <a:moveTo>
                    <a:pt x="686719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686719" y="406400"/>
                  </a:lnTo>
                  <a:lnTo>
                    <a:pt x="889919" y="203200"/>
                  </a:lnTo>
                  <a:lnTo>
                    <a:pt x="686719" y="0"/>
                  </a:lnTo>
                  <a:close/>
                </a:path>
              </a:pathLst>
            </a:custGeom>
            <a:solidFill>
              <a:srgbClr val="3D250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775619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44672" y="4832896"/>
            <a:ext cx="2810148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GitLeaks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(Secret Scan)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5388" y="4453801"/>
            <a:ext cx="3811973" cy="1543050"/>
            <a:chOff x="0" y="0"/>
            <a:chExt cx="1003976" cy="406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03976" cy="406400"/>
            </a:xfrm>
            <a:custGeom>
              <a:avLst/>
              <a:gdLst/>
              <a:ahLst/>
              <a:cxnLst/>
              <a:rect r="r" b="b" t="t" l="l"/>
              <a:pathLst>
                <a:path h="406400" w="1003976">
                  <a:moveTo>
                    <a:pt x="0" y="0"/>
                  </a:moveTo>
                  <a:lnTo>
                    <a:pt x="800776" y="0"/>
                  </a:lnTo>
                  <a:lnTo>
                    <a:pt x="1003976" y="203200"/>
                  </a:lnTo>
                  <a:lnTo>
                    <a:pt x="800776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A4900">
                <a:alpha val="8000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77800" y="-47625"/>
              <a:ext cx="749976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4225252" y="4449039"/>
            <a:ext cx="4852596" cy="1543050"/>
            <a:chOff x="0" y="0"/>
            <a:chExt cx="1278050" cy="406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78050" cy="406400"/>
            </a:xfrm>
            <a:custGeom>
              <a:avLst/>
              <a:gdLst/>
              <a:ahLst/>
              <a:cxnLst/>
              <a:rect r="r" b="b" t="t" l="l"/>
              <a:pathLst>
                <a:path h="406400" w="1278050">
                  <a:moveTo>
                    <a:pt x="0" y="0"/>
                  </a:moveTo>
                  <a:lnTo>
                    <a:pt x="1074850" y="0"/>
                  </a:lnTo>
                  <a:lnTo>
                    <a:pt x="1278050" y="203200"/>
                  </a:lnTo>
                  <a:lnTo>
                    <a:pt x="107485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AF5F7">
                <a:alpha val="40000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177800" y="-47625"/>
              <a:ext cx="1024050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AutoShape 22" id="22"/>
          <p:cNvSpPr/>
          <p:nvPr/>
        </p:nvSpPr>
        <p:spPr>
          <a:xfrm>
            <a:off x="4482325" y="5941606"/>
            <a:ext cx="0" cy="861252"/>
          </a:xfrm>
          <a:prstGeom prst="line">
            <a:avLst/>
          </a:prstGeom>
          <a:ln cap="flat" w="38100">
            <a:solidFill>
              <a:srgbClr val="7A49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3" id="23"/>
          <p:cNvSpPr/>
          <p:nvPr/>
        </p:nvSpPr>
        <p:spPr>
          <a:xfrm>
            <a:off x="16420128" y="5941606"/>
            <a:ext cx="0" cy="861252"/>
          </a:xfrm>
          <a:prstGeom prst="line">
            <a:avLst/>
          </a:prstGeom>
          <a:ln cap="flat" w="38100">
            <a:solidFill>
              <a:srgbClr val="CAF5F7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24" id="24"/>
          <p:cNvSpPr/>
          <p:nvPr/>
        </p:nvSpPr>
        <p:spPr>
          <a:xfrm flipH="false" flipV="false" rot="2510490">
            <a:off x="-1049372" y="3499097"/>
            <a:ext cx="2437131" cy="651639"/>
          </a:xfrm>
          <a:custGeom>
            <a:avLst/>
            <a:gdLst/>
            <a:ahLst/>
            <a:cxnLst/>
            <a:rect r="r" b="b" t="t" l="l"/>
            <a:pathLst>
              <a:path h="651639" w="2437131">
                <a:moveTo>
                  <a:pt x="0" y="0"/>
                </a:moveTo>
                <a:lnTo>
                  <a:pt x="2437131" y="0"/>
                </a:lnTo>
                <a:lnTo>
                  <a:pt x="2437131" y="651639"/>
                </a:lnTo>
                <a:lnTo>
                  <a:pt x="0" y="6516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28700" y="1981912"/>
            <a:ext cx="12120674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Pipeline de Segurança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104072" y="9375104"/>
            <a:ext cx="15522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039215" y="4842526"/>
            <a:ext cx="3443296" cy="685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true" sz="197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Depend</a:t>
            </a:r>
            <a:r>
              <a:rPr lang="en-US" b="true" sz="197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ency Check (SCA)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9193" y="7109777"/>
            <a:ext cx="2561106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Segredos expostos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29" id="29"/>
          <p:cNvSpPr txBox="true"/>
          <p:nvPr/>
        </p:nvSpPr>
        <p:spPr>
          <a:xfrm rot="0">
            <a:off x="11540426" y="7109777"/>
            <a:ext cx="2576848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Vuln</a:t>
            </a: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erabilidades em execução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8700" y="1066800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518299" y="1066800"/>
            <a:ext cx="4741001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587174" y="4811946"/>
            <a:ext cx="182840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CodeQL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(SAST)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430899" y="4832896"/>
            <a:ext cx="1828401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Security Gate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201772" y="7145758"/>
            <a:ext cx="2561106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Vulnerabilidades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 código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35" id="35"/>
          <p:cNvSpPr txBox="true"/>
          <p:nvPr/>
        </p:nvSpPr>
        <p:spPr>
          <a:xfrm rot="0">
            <a:off x="7334411" y="7054532"/>
            <a:ext cx="2675773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CVEs em dependências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5056675" y="7054532"/>
            <a:ext cx="2576848" cy="1851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Aprovação ou bloqueio - apenas o código validado avança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37" id="37"/>
          <p:cNvSpPr txBox="true"/>
          <p:nvPr/>
        </p:nvSpPr>
        <p:spPr>
          <a:xfrm rot="0">
            <a:off x="1294361" y="3432486"/>
            <a:ext cx="2561106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Push/Pull 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Request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476250"/>
            <a:ext cx="18288000" cy="6512501"/>
            <a:chOff x="0" y="0"/>
            <a:chExt cx="1811948" cy="6452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11948" cy="645249"/>
            </a:xfrm>
            <a:custGeom>
              <a:avLst/>
              <a:gdLst/>
              <a:ahLst/>
              <a:cxnLst/>
              <a:rect r="r" b="b" t="t" l="l"/>
              <a:pathLst>
                <a:path h="645249" w="1811948">
                  <a:moveTo>
                    <a:pt x="1811948" y="0"/>
                  </a:moveTo>
                  <a:lnTo>
                    <a:pt x="1811948" y="530949"/>
                  </a:lnTo>
                  <a:lnTo>
                    <a:pt x="905974" y="645249"/>
                  </a:lnTo>
                  <a:lnTo>
                    <a:pt x="0" y="530949"/>
                  </a:lnTo>
                  <a:lnTo>
                    <a:pt x="0" y="0"/>
                  </a:lnTo>
                  <a:lnTo>
                    <a:pt x="1811948" y="0"/>
                  </a:lnTo>
                  <a:close/>
                </a:path>
              </a:pathLst>
            </a:custGeom>
            <a:solidFill>
              <a:srgbClr val="FAF7F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811948" cy="5785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1999302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ASVS 5.0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4113212"/>
            <a:ext cx="4238166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Definição dos requisitos de segurança.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698616" y="8918575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024917" y="4113212"/>
            <a:ext cx="4238166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Implementação e validação dos requisitos de segurança.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025208" y="4113212"/>
            <a:ext cx="4238166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eavaliação baseada em evidências da solução final.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2591557" y="5832316"/>
            <a:ext cx="2870504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Maior Conformidade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61886" y="8865870"/>
            <a:ext cx="13764228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A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 diferenças de cobertura entre as diferentes etapas resultam de uma análise mais rigorosa e baseada em evidências da implementação final.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12531" y="3273835"/>
            <a:ext cx="2870504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Phase 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66833" y="3314475"/>
            <a:ext cx="355433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Phase 2 - Sprint 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221025" y="3273835"/>
            <a:ext cx="3846533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 i="true">
                <a:solidFill>
                  <a:srgbClr val="8C7753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Phase 2 - Sprint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1066800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18299" y="1066800"/>
            <a:ext cx="4741001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93988" y="5988626"/>
            <a:ext cx="2870504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Áreas com menor cobertura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77606" y="6883371"/>
            <a:ext cx="5098405" cy="1480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V2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Validation &amp; Business Logic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V9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Self-contained Tokens</a:t>
            </a: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(100%)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V13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Configuration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V16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Security Logging &amp; Error Handling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518299" y="7039681"/>
            <a:ext cx="3621881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V3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Web Frontend Security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V5 – 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File Handling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V17 –</a:t>
            </a:r>
            <a:r>
              <a:rPr lang="en-US" sz="2100" i="true">
                <a:solidFill>
                  <a:srgbClr val="00000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 WebRTC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898111" y="2750855"/>
            <a:ext cx="7361189" cy="6058507"/>
          </a:xfrm>
          <a:custGeom>
            <a:avLst/>
            <a:gdLst/>
            <a:ahLst/>
            <a:cxnLst/>
            <a:rect r="r" b="b" t="t" l="l"/>
            <a:pathLst>
              <a:path h="6058507" w="7361189">
                <a:moveTo>
                  <a:pt x="0" y="0"/>
                </a:moveTo>
                <a:lnTo>
                  <a:pt x="7361189" y="0"/>
                </a:lnTo>
                <a:lnTo>
                  <a:pt x="7361189" y="6058507"/>
                </a:lnTo>
                <a:lnTo>
                  <a:pt x="0" y="60585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718980"/>
            <a:ext cx="12091937" cy="660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99"/>
              </a:lnSpc>
            </a:pPr>
            <a:r>
              <a:rPr lang="en-US" b="true" sz="4999" spc="-299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Deployment 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698616" y="9390847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66800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20637" y="1066800"/>
            <a:ext cx="4138663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703230"/>
            <a:ext cx="3671199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Infraestrutura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238535"/>
            <a:ext cx="7342398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VM L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inux dedicada para produção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Aplicação em container Docker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Base de dados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acessível apenas lo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lmente</a:t>
            </a:r>
          </a:p>
          <a:p>
            <a:pPr algn="l">
              <a:lnSpc>
                <a:spcPts val="3079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556160"/>
            <a:ext cx="4473749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Segurança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5161950"/>
            <a:ext cx="7342398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Container execu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tado sem privilégios de </a:t>
            </a:r>
            <a:r>
              <a:rPr lang="en-US" sz="2199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root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egredos geridos através de GitHub Secrets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redenciais fora do código-fonte</a:t>
            </a:r>
          </a:p>
          <a:p>
            <a:pPr algn="l">
              <a:lnSpc>
                <a:spcPts val="3079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500530"/>
            <a:ext cx="5591772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Automatização e Rastreabilidade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7106320"/>
            <a:ext cx="7342398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Deploy automático via GitHub Act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ions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Atualização e reinício da aplicação via Docker Compose</a:t>
            </a:r>
          </a:p>
          <a:p>
            <a:pPr algn="l" marL="474979" indent="-237490" lvl="1">
              <a:lnSpc>
                <a:spcPts val="3079"/>
              </a:lnSpc>
              <a:spcBef>
                <a:spcPct val="0"/>
              </a:spcBef>
              <a:buFont typeface="Arial"/>
              <a:buChar char="•"/>
            </a:pP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Versionamento e </a:t>
            </a:r>
            <a:r>
              <a:rPr lang="en-US" sz="2199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releases</a:t>
            </a:r>
            <a:r>
              <a:rPr lang="en-US" sz="21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com Release Please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697195" y="8944610"/>
            <a:ext cx="3763021" cy="313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60"/>
              </a:lnSpc>
              <a:spcBef>
                <a:spcPct val="0"/>
              </a:spcBef>
            </a:pP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Figura 3 - Vista de Implantação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37" y="0"/>
            <a:ext cx="18288000" cy="10059592"/>
            <a:chOff x="0" y="0"/>
            <a:chExt cx="1811948" cy="9966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11948" cy="996689"/>
            </a:xfrm>
            <a:custGeom>
              <a:avLst/>
              <a:gdLst/>
              <a:ahLst/>
              <a:cxnLst/>
              <a:rect r="r" b="b" t="t" l="l"/>
              <a:pathLst>
                <a:path h="996689" w="1811948">
                  <a:moveTo>
                    <a:pt x="1811948" y="0"/>
                  </a:moveTo>
                  <a:lnTo>
                    <a:pt x="1811948" y="882389"/>
                  </a:lnTo>
                  <a:lnTo>
                    <a:pt x="905974" y="996689"/>
                  </a:lnTo>
                  <a:lnTo>
                    <a:pt x="0" y="882389"/>
                  </a:lnTo>
                  <a:lnTo>
                    <a:pt x="0" y="0"/>
                  </a:lnTo>
                  <a:lnTo>
                    <a:pt x="1811948" y="0"/>
                  </a:lnTo>
                  <a:close/>
                </a:path>
              </a:pathLst>
            </a:custGeom>
            <a:solidFill>
              <a:srgbClr val="FAF7F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811948" cy="9300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4626" y="2000660"/>
            <a:ext cx="811530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9"/>
              </a:lnSpc>
            </a:pPr>
            <a:r>
              <a:rPr lang="en-US" sz="5499" spc="-329" b="true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4626" y="4800917"/>
            <a:ext cx="4238166" cy="423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53390" indent="-226695" lvl="1">
              <a:lnSpc>
                <a:spcPts val="3213"/>
              </a:lnSpc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Aplicação dos princípios de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SSDLC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e </a:t>
            </a:r>
            <a:r>
              <a:rPr lang="en-US" b="true" sz="2100" i="true">
                <a:solidFill>
                  <a:srgbClr val="331B0D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Security by Design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ao longo de todo o ciclo de desenvolvimento;</a:t>
            </a:r>
          </a:p>
          <a:p>
            <a:pPr algn="just">
              <a:lnSpc>
                <a:spcPts val="3213"/>
              </a:lnSpc>
            </a:pPr>
          </a:p>
          <a:p>
            <a:pPr algn="ctr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Implementação de mecanismos de autenticação, autorização, validação de dados, proteção contra abusos e auditoria.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698616" y="9394429"/>
            <a:ext cx="45606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10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066800"/>
            <a:ext cx="7342398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025208" y="1066800"/>
            <a:ext cx="4234092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26954" y="4926105"/>
            <a:ext cx="4238166" cy="3709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Integração de controlos de segurança na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pipeline CI/CD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através de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SAST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SCA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,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DAST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e análise de segredos.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  <a:p>
            <a:pPr algn="ctr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Processo de release e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deployment 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totalmente automatizado com GitHub Actions, Docker e </a:t>
            </a:r>
            <a:r>
              <a:rPr lang="en-US" sz="2100" i="true">
                <a:solidFill>
                  <a:srgbClr val="331B0D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Release Please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27245" y="4829492"/>
            <a:ext cx="4238166" cy="3709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Utilizaçã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 do </a:t>
            </a: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OWASP ASVS 5.0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para rastrear, validar e reavaliar os requisitos de segurança ao longo das diferentes fases do projeto.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  <a:p>
            <a:pPr algn="ctr" marL="453390" indent="-226695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Avaliação baseada em evidências da implementação final da solução.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12531" y="3273835"/>
            <a:ext cx="2870504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Alcançados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62127" y="3273835"/>
            <a:ext cx="3767821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Automatização e Segurança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707002" y="3554822"/>
            <a:ext cx="2870504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Validação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075" y="3496715"/>
            <a:ext cx="16325850" cy="1331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41"/>
              </a:lnSpc>
            </a:pPr>
            <a:r>
              <a:rPr lang="en-US" b="true" sz="10041" spc="-602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Fim da Apresentação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021709" y="6033127"/>
            <a:ext cx="6244583" cy="1289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99"/>
              </a:lnSpc>
              <a:spcBef>
                <a:spcPct val="0"/>
              </a:spcBef>
            </a:pPr>
            <a:r>
              <a:rPr lang="en-US" b="true" sz="4999" spc="4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OBRIGADO PELA ATENÇÃO!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66800"/>
            <a:ext cx="2847786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E-Movie SHOP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951681" y="917575"/>
            <a:ext cx="4307619" cy="260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99"/>
              </a:lnSpc>
              <a:spcBef>
                <a:spcPct val="0"/>
              </a:spcBef>
            </a:pPr>
            <a:r>
              <a:rPr lang="en-US" b="true" sz="1999" spc="1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DESOFS 2026 - wed_nap_1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DAHMpbZC0l0</dc:identifier>
  <dcterms:modified xsi:type="dcterms:W3CDTF">2011-08-01T06:04:30Z</dcterms:modified>
  <cp:revision>1</cp:revision>
  <dc:title>DESOFS 2026 - wed_nap_1</dc:title>
</cp:coreProperties>
</file>